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70" r:id="rId4"/>
    <p:sldId id="271" r:id="rId5"/>
    <p:sldId id="260" r:id="rId6"/>
    <p:sldId id="269" r:id="rId7"/>
    <p:sldId id="268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Gaya Medium 2 - Akse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793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kelompok dan proyek: sistem web untuk Toko Kue Lala. Presentasi ini merangkum Requirement Document (fase definisi proyek).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teknik: wawancara, observasi, studi dokumen. Di kanan adalah lima kriteria keberhasilan menurut klien.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9D881-2913-B3BF-688B-3746684B5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89D7B4-640E-84FE-0D55-DC1735AE7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683EF-94A2-3891-CFDF-A8ABD4118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teknik: wawancara, observasi, studi dokumen. Di kanan adalah lima kriteria keberhasilan menurut klien.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40236-7038-5C46-5A52-95A00158B6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61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90A4F-9DEE-CB17-554A-09B6CC953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E1043-3CBC-2E04-0A25-5E662F990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A2D46F-A97C-57EF-ECCE-DEF700ACF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teknik: wawancara, observasi, studi dokumen. Di kanan adalah lima kriteria keberhasilan menurut klien.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E4CFD-4EA1-91AD-0141-52B183F2DE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99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Kiri: fitur yang dikerjakan. Kanan: yang sengaja dikeluarkan agar proyek selesai dalam satu semester.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B038C-C127-0D16-86B5-EDB29B614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C4AB81-524E-74FE-2507-F21290701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231C2F-8830-2041-CFBB-705513AE05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Kiri: fitur yang dikerjakan. Kanan: yang sengaja dikeluarkan agar proyek selesai dalam satu semester.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D7097-A148-4A4F-F744-66C9980F3D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31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ringkasan masalah, solusi, dan pelaksanaan. Buka sesi tanya jawab.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rgbClr val="3B1228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3B1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05840"/>
            <a:ext cx="4023360" cy="4023360"/>
          </a:xfrm>
          <a:prstGeom prst="ellipse">
            <a:avLst/>
          </a:prstGeom>
          <a:solidFill>
            <a:srgbClr val="A8244F">
              <a:alpha val="45000"/>
            </a:srgbClr>
          </a:solidFill>
          <a:ln w="12700">
            <a:solidFill>
              <a:srgbClr val="A824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566160"/>
            <a:ext cx="2194560" cy="2194560"/>
          </a:xfrm>
          <a:prstGeom prst="ellipse">
            <a:avLst/>
          </a:prstGeom>
          <a:solidFill>
            <a:srgbClr val="F2A93B">
              <a:alpha val="30000"/>
            </a:srgbClr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2A93B"/>
                </a:solidFill>
              </a:rPr>
              <a:t>KELOMPOK 4  ·  PENGELOLAAN PROYEK SISTEM INFORMASI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Informasi Pemesanan dan Pengelolaan Toko Kue Lala Berbasis Web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607820" y="238887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Requirement Document — Fase </a:t>
            </a:r>
            <a:r>
              <a:rPr lang="en-US" dirty="0" err="1">
                <a:solidFill>
                  <a:srgbClr val="FFFFFF"/>
                </a:solidFill>
              </a:rPr>
              <a:t>Perencanaan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sz="1800" dirty="0" err="1">
                <a:solidFill>
                  <a:srgbClr val="FFFFFF"/>
                </a:solidFill>
              </a:rPr>
              <a:t>Proyek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6631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9C9D5"/>
                </a:solidFill>
              </a:rPr>
              <a:t>Klien: Toko Kue Lala  ·  Universitas Gunadarma  ·  Versi 1.0</a:t>
            </a:r>
            <a:endParaRPr lang="en-US" sz="1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86FB9417-1C14-EB95-5C9A-98186FB4A7A7}"/>
              </a:ext>
            </a:extLst>
          </p:cNvPr>
          <p:cNvSpPr txBox="1"/>
          <p:nvPr/>
        </p:nvSpPr>
        <p:spPr>
          <a:xfrm>
            <a:off x="548640" y="275463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</a:rPr>
              <a:t>Nama </a:t>
            </a:r>
            <a:r>
              <a:rPr lang="en-US" dirty="0" err="1">
                <a:solidFill>
                  <a:srgbClr val="FFFFFF"/>
                </a:solidFill>
              </a:rPr>
              <a:t>Anggota</a:t>
            </a:r>
            <a:r>
              <a:rPr lang="en-US" dirty="0">
                <a:solidFill>
                  <a:srgbClr val="FFFFFF"/>
                </a:solidFill>
              </a:rPr>
              <a:t>:</a:t>
            </a:r>
          </a:p>
          <a:p>
            <a:r>
              <a:rPr lang="en-US" dirty="0">
                <a:solidFill>
                  <a:srgbClr val="FFFFFF"/>
                </a:solidFill>
              </a:rPr>
              <a:t>Muhammad </a:t>
            </a:r>
            <a:r>
              <a:rPr lang="en-US" dirty="0" err="1">
                <a:solidFill>
                  <a:srgbClr val="FFFFFF"/>
                </a:solidFill>
              </a:rPr>
              <a:t>Dzaki</a:t>
            </a:r>
            <a:r>
              <a:rPr lang="en-US" dirty="0">
                <a:solidFill>
                  <a:srgbClr val="FFFFFF"/>
                </a:solidFill>
              </a:rPr>
              <a:t> An </a:t>
            </a:r>
            <a:r>
              <a:rPr lang="en-US" dirty="0" err="1">
                <a:solidFill>
                  <a:srgbClr val="FFFFFF"/>
                </a:solidFill>
              </a:rPr>
              <a:t>Nadhif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Islamy</a:t>
            </a:r>
            <a:r>
              <a:rPr lang="en-US" dirty="0">
                <a:solidFill>
                  <a:srgbClr val="FFFFFF"/>
                </a:solidFill>
              </a:rPr>
              <a:t> (</a:t>
            </a:r>
            <a:r>
              <a:rPr lang="en-ID" dirty="0">
                <a:solidFill>
                  <a:schemeClr val="bg1"/>
                </a:solidFill>
              </a:rPr>
              <a:t>10123690</a:t>
            </a:r>
            <a:r>
              <a:rPr lang="en-US" dirty="0">
                <a:solidFill>
                  <a:srgbClr val="FFFFFF"/>
                </a:solidFill>
              </a:rPr>
              <a:t>)</a:t>
            </a:r>
          </a:p>
          <a:p>
            <a:r>
              <a:rPr lang="en-US" sz="1800" dirty="0">
                <a:solidFill>
                  <a:srgbClr val="FFFFFF"/>
                </a:solidFill>
              </a:rPr>
              <a:t>Luky Prastyo (10123616)</a:t>
            </a:r>
          </a:p>
          <a:p>
            <a:r>
              <a:rPr lang="en-US" dirty="0">
                <a:solidFill>
                  <a:srgbClr val="FFFFFF"/>
                </a:solidFill>
              </a:rPr>
              <a:t>Muhammad </a:t>
            </a:r>
            <a:r>
              <a:rPr lang="en-US" dirty="0" err="1">
                <a:solidFill>
                  <a:srgbClr val="FFFFFF"/>
                </a:solidFill>
              </a:rPr>
              <a:t>Alfan</a:t>
            </a:r>
            <a:r>
              <a:rPr lang="en-US" dirty="0">
                <a:solidFill>
                  <a:srgbClr val="FFFFFF"/>
                </a:solidFill>
              </a:rPr>
              <a:t> Naufal (10123703)</a:t>
            </a:r>
          </a:p>
          <a:p>
            <a:r>
              <a:rPr lang="en-US" sz="1800" dirty="0">
                <a:solidFill>
                  <a:srgbClr val="FFFFFF"/>
                </a:solidFill>
              </a:rPr>
              <a:t>Muhammad </a:t>
            </a:r>
            <a:r>
              <a:rPr lang="en-US" sz="1800" dirty="0" err="1">
                <a:solidFill>
                  <a:srgbClr val="FFFFFF"/>
                </a:solidFill>
              </a:rPr>
              <a:t>Alvarizi</a:t>
            </a:r>
            <a:r>
              <a:rPr lang="en-US" sz="1800" dirty="0">
                <a:solidFill>
                  <a:srgbClr val="FFFFFF"/>
                </a:solidFill>
              </a:rPr>
              <a:t> (10123747)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1228"/>
                </a:solidFill>
              </a:rPr>
              <a:t>Diagram DFD WBS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8AB67E95-0E38-BC6D-BBB7-3CDC6C41B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940" y="894397"/>
            <a:ext cx="8531860" cy="3507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9217E-31A4-3F94-8F0A-FDF70F529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20CBEB3-3FCB-BA6A-B589-75DF3444AF61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/>
              <a:t>Proses </a:t>
            </a:r>
            <a:r>
              <a:rPr lang="en-US" sz="2800" dirty="0" err="1"/>
              <a:t>bisnis</a:t>
            </a:r>
            <a:r>
              <a:rPr lang="en-US" sz="2800" dirty="0"/>
              <a:t> </a:t>
            </a:r>
            <a:r>
              <a:rPr lang="en-US" sz="2800" dirty="0" err="1"/>
              <a:t>saat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endParaRPr lang="en-US" sz="2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0962945-7A96-4EBA-B684-BD10A29AEB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5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F86A37-AD2F-703F-E300-E3D7458E5C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8397" y="915022"/>
            <a:ext cx="2903512" cy="404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28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3F7C0-C6BD-CE04-A2EE-E2A82D1FC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A8E6F3-FF5E-37B2-22D4-EA8C7F9D380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/>
              <a:t>Proses </a:t>
            </a:r>
            <a:r>
              <a:rPr lang="en-US" sz="2800" dirty="0" err="1"/>
              <a:t>bisnis</a:t>
            </a:r>
            <a:r>
              <a:rPr lang="en-US" dirty="0"/>
              <a:t> </a:t>
            </a:r>
            <a:r>
              <a:rPr lang="en-US" dirty="0" err="1"/>
              <a:t>usulan</a:t>
            </a:r>
            <a:r>
              <a:rPr lang="en-US" dirty="0"/>
              <a:t> (to-be)</a:t>
            </a:r>
            <a:endParaRPr lang="en-US" sz="2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7682880-3866-C19A-720B-C330A2F0FA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73F158-1C99-FA38-6070-54C70AF7F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857" y="964809"/>
            <a:ext cx="2783488" cy="388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36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B1228"/>
                </a:solidFill>
              </a:rPr>
              <a:t>Gantt Chart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463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5B6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12" name="Picture 5">
            <a:extLst>
              <a:ext uri="{FF2B5EF4-FFF2-40B4-BE49-F238E27FC236}">
                <a16:creationId xmlns:a16="http://schemas.microsoft.com/office/drawing/2014/main" id="{4BA076CB-4896-F448-ABB6-3523C9E5E9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" y="1005840"/>
            <a:ext cx="7178040" cy="3937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0A9EC-3C27-682A-3035-307D65A29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Judul 11">
            <a:extLst>
              <a:ext uri="{FF2B5EF4-FFF2-40B4-BE49-F238E27FC236}">
                <a16:creationId xmlns:a16="http://schemas.microsoft.com/office/drawing/2014/main" id="{BADC6194-2218-4556-ABCF-0632AF2C72E1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 err="1"/>
              <a:t>Rangkuman</a:t>
            </a:r>
            <a:r>
              <a:rPr lang="en-US" dirty="0"/>
              <a:t> Jadwal </a:t>
            </a:r>
            <a:r>
              <a:rPr lang="en-US" dirty="0" err="1"/>
              <a:t>Proyek</a:t>
            </a:r>
            <a:endParaRPr lang="id-ID" dirty="0"/>
          </a:p>
        </p:txBody>
      </p:sp>
      <p:pic>
        <p:nvPicPr>
          <p:cNvPr id="15" name="Gambar 14">
            <a:extLst>
              <a:ext uri="{FF2B5EF4-FFF2-40B4-BE49-F238E27FC236}">
                <a16:creationId xmlns:a16="http://schemas.microsoft.com/office/drawing/2014/main" id="{57F24610-04A8-094B-3B63-B4FCB2681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39"/>
            <a:ext cx="7772400" cy="357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956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3383280"/>
            <a:ext cx="2560320" cy="2560320"/>
          </a:xfrm>
          <a:prstGeom prst="ellipse">
            <a:avLst/>
          </a:prstGeom>
          <a:solidFill>
            <a:srgbClr val="A8244F">
              <a:alpha val="45000"/>
            </a:srgbClr>
          </a:solidFill>
          <a:ln w="12700">
            <a:solidFill>
              <a:srgbClr val="A824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25171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Kasih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ko Kue Lala">
  <a:themeElements>
    <a:clrScheme name="Toko Kue Lala">
      <a:dk1>
        <a:srgbClr val="2B2B2B"/>
      </a:dk1>
      <a:lt1>
        <a:srgbClr val="FFFFFF"/>
      </a:lt1>
      <a:dk2>
        <a:srgbClr val="3B1228"/>
      </a:dk2>
      <a:lt2>
        <a:srgbClr val="FCEBF1"/>
      </a:lt2>
      <a:accent1>
        <a:srgbClr val="A8244F"/>
      </a:accent1>
      <a:accent2>
        <a:srgbClr val="F2A93B"/>
      </a:accent2>
      <a:accent3>
        <a:srgbClr val="7A1A39"/>
      </a:accent3>
      <a:accent4>
        <a:srgbClr val="D9617F"/>
      </a:accent4>
      <a:accent5>
        <a:srgbClr val="6B5B62"/>
      </a:accent5>
      <a:accent6>
        <a:srgbClr val="2E7D5B"/>
      </a:accent6>
      <a:hlink>
        <a:srgbClr val="A8244F"/>
      </a:hlink>
      <a:folHlink>
        <a:srgbClr val="7A1A39"/>
      </a:folHlink>
    </a:clrScheme>
    <a:fontScheme name="Toko Kue Lal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222</Words>
  <Application>Microsoft Office PowerPoint</Application>
  <PresentationFormat>On-screen Show (16:9)</PresentationFormat>
  <Paragraphs>33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Toko Kue Lala</vt:lpstr>
      <vt:lpstr>PowerPoint Presentation</vt:lpstr>
      <vt:lpstr>Diagram DFD WBS</vt:lpstr>
      <vt:lpstr>Proses bisnis saat ini</vt:lpstr>
      <vt:lpstr>Proses bisnis usulan (to-be)</vt:lpstr>
      <vt:lpstr>Gantt Chart</vt:lpstr>
      <vt:lpstr>Rangkuman Jadwal Proyek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Requirement Document Toko Kue Lala</dc:title>
  <dc:subject>PptxGenJS Presentation</dc:subject>
  <dc:creator>Kelompok 4</dc:creator>
  <cp:lastModifiedBy>Mohammad Dzaki An Nadhif</cp:lastModifiedBy>
  <cp:revision>5</cp:revision>
  <dcterms:created xsi:type="dcterms:W3CDTF">2026-10-10T15:40:39Z</dcterms:created>
  <dcterms:modified xsi:type="dcterms:W3CDTF">2026-10-19T06:17:21Z</dcterms:modified>
</cp:coreProperties>
</file>